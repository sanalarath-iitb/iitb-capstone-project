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88952" cy="2743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3F2FD"/>
                </a:solidFill>
              </a:rPr>
              <a:t>Aurora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ML-Driven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Capstone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3F2FD"/>
                </a:solidFill>
              </a:rPr>
              <a:t>ePGDip@ML in Finance  |  IIT Bombay  |  Semester 3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749039"/>
            <a:ext cx="9445752" cy="457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57F17"/>
                </a:solidFill>
              </a:rPr>
              <a:t>4 Modules  |  ML + Finance  |  Executive Dashboard  |  Integrated Risk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3F2FD"/>
                </a:solidFill>
              </a:rPr>
              <a:t>Aurora Finance — 4-Module ML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94360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325880"/>
            <a:ext cx="107899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Corporate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83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Fund 50 projects using NPV + ML success probability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417320"/>
            <a:ext cx="5029200" cy="731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47A1"/>
                </a:solidFill>
              </a:rPr>
              <a:t>16/50 funded  |  XGBoost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60320"/>
            <a:ext cx="59436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7432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560320"/>
            <a:ext cx="107899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06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Banking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17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Score credit risk + detect fraud in transactions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651760"/>
            <a:ext cx="5029200" cy="731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47A1"/>
                </a:solidFill>
              </a:rPr>
              <a:t>3 tiers  |  9 fraud alerts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594360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9776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3794760"/>
            <a:ext cx="107899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Financial Markets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251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Predict returns + Markowitz portfolio optimisation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886200"/>
            <a:ext cx="5029200" cy="731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977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47A1"/>
                </a:solidFill>
              </a:rPr>
              <a:t>Max-Sharpe: ITC 68.9% + UltraTech 31.1%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029200"/>
            <a:ext cx="594360" cy="9601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2120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5029200"/>
            <a:ext cx="107899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074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1B9A"/>
                </a:solidFill>
              </a:rPr>
              <a:t>Derivatives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86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Black-Scholes vs ML pricing + VaR + delta hedge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5120640"/>
            <a:ext cx="5029200" cy="731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47A1"/>
                </a:solidFill>
              </a:rPr>
              <a:t>ML beats BS by 52%  |  Hedge cost 0.98% AUM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3093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47A1"/>
                </a:solidFill>
              </a:rPr>
              <a:t>+ Module 5: Integrated Executive Dashboard (Plotly HTML + Excel)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1 — Corporate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3F2FD"/>
                </a:solidFill>
              </a:rPr>
              <a:t>Dataset: 50 Projects × 10 Features  |  Target: Success (binary)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Which of Aurora's 50 candidate projects should be funded? Predict probability of success and rank all projects by risk-adjusted expected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92608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Regression: Predict 3-year cashflow → compute NPV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Classification: Predict P(Success) using 5-fold StratifiedKFold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Feature Set A: Raw 11 features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Feature Set B: + 7 engineered (NPV, Payback_Ratio, ROI_Expected, CF_Growth, CF_Stability, Market_Adj_ROI)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Ranking: EV = P(Success) × NPV; penalise High-risk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Key Engineered Features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691640"/>
          <a:ext cx="5669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Insight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NPV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DCF - Cost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True economic value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Payback_Ratio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CF_Total /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Recovery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CF_Growth_Rate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CF₃ / CF₁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Growth trajectory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CF_Stability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std/mean(CFs)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Predictability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Market_Adj_ROI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ROI × (1+Growth)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Forward-looking ROI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shap_summa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749039"/>
            <a:ext cx="5669280" cy="25603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1 — Results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3F2FD"/>
                </a:solidFill>
              </a:rPr>
              <a:t>5-fold CV  |  AUC, F1, RMSE  |  SHAP Explainability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Classification Results (Set A vs Set B)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91640"/>
          <a:ext cx="5760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AUC Set A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F1 Set A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Winner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XGBoost 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0.556 ± 0.22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0.545 ± 0.30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✓ Best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0.529 ± 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0.527 ± 0.16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0.470 ± 0.27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0.492 ± 0.26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Logistic Reg.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0.396 ± 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0.532 ± 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3657600"/>
            <a:ext cx="256032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70332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</a:rPr>
              <a:t>16 /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8795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Projects FUND-recommended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3657600"/>
            <a:ext cx="2560320" cy="91440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70332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47A1"/>
                </a:solidFill>
              </a:rPr>
              <a:t>₹3.26M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18795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Top Project EV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657600"/>
            <a:ext cx="228600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37033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</a:rPr>
              <a:t>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1879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Top 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66344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XGBoost + NPV/Payback features = best AUC across all models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SHAP: NPV and Payback_Ratio dominate — financial fundamentals beat raw CFs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Low AUC (~0.56) expected with only 50 rows and 5-fold CV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16 projects FUND recommended; rest SKIP or borderline</a:t>
            </a:r>
          </a:p>
        </p:txBody>
      </p:sp>
      <p:pic>
        <p:nvPicPr>
          <p:cNvPr id="18" name="Picture 17" descr="projec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669280" cy="51206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2 — Banking: Credit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3F2FD"/>
                </a:solidFill>
              </a:rPr>
              <a:t>100 Loans  |  PD Regression + Classification  |  3 Risk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PD Regression — 5-fold CV (Set 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9164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Random Forest 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0.0910 ± 0.010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−0.094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0.0918 ± 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−0.120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Ridge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0.0947 ± 0.011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−0.180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0.1012 ± 0.020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−0.371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33832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Negative R² is expected — PD variance is compressed (0.01–0.30 range) with only 100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9319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Credit Risk Tier Segmentation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4343400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PD Range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&lt; 10%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Approve, quarterly monitor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10–20%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Enhanced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&gt; 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Reject / credit enhancement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128016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65C0"/>
                </a:solidFill>
              </a:rPr>
              <a:t>Key Findings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Random Forest best on PD regression; XGBoost on past-default classification (AUC=1.0)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Loan-to-Income and Payment-to-Income are the strongest engineered predictors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63 of 100 loans in Medium-risk tier → priority segment for active monitoring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AUC=1.0 on Past_Default classification reflects near-deterministic relationship in this dataset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14800"/>
            <a:ext cx="1828800" cy="868680"/>
          </a:xfrm>
          <a:prstGeom prst="rect">
            <a:avLst/>
          </a:prstGeom>
          <a:solidFill>
            <a:srgbClr val="E8F5E9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41605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46451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Low Risk Loans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114800"/>
            <a:ext cx="1828800" cy="868680"/>
          </a:xfrm>
          <a:prstGeom prst="rect">
            <a:avLst/>
          </a:prstGeom>
          <a:solidFill>
            <a:srgbClr val="FFF9C4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1605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7F17"/>
                </a:solidFill>
              </a:rPr>
              <a:t>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6451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Medium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49840" y="4114800"/>
            <a:ext cx="1737360" cy="868680"/>
          </a:xfrm>
          <a:prstGeom prst="rect">
            <a:avLst/>
          </a:prstGeom>
          <a:solidFill>
            <a:srgbClr val="FFEBEE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41605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4645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High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2 —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3F2FD"/>
                </a:solidFill>
              </a:rPr>
              <a:t>200 Transactions  |  21:1 Imbalance  |  9 Known Fraud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Model Comparison — PR-AUC (5-fold CV, Set B)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91640"/>
          <a:ext cx="5760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XGBoost (weighted) 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0.162 ± 0.173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0.067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scale_pos_weight=21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0.170 ± 0.169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class_weight=balanced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XGBoost + SMOTE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0.139 ± 0.126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0.080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Oversampling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0.135 ± 0.113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Logistic Reg.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0.061 ± 0.013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0.049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balanced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Isolation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Unsupervised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39319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Why PR-AUC, not ROC AUC?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2976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With 21:1 imbalance, a model predicting all-negative gets ROC AUC=0.5 but zero fraud caught. PR-AUC penalises models that simply never predict fraud.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65C0"/>
                </a:solidFill>
              </a:rPr>
              <a:t>Key Findings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9 fraud cases in 200 transactions (4.5%) — extreme imbalance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XGBoost with scale_pos_weight=21 is the recommended approach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Isolation Forest fails — unsupervised methods need many more positives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SMOTE hurt performance — generates synthetic noise on 9 real cases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PR-AUC values are low (~0.15) but expected with only 9 positives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Business recommendation: use XGBoost score threshold at 0.3 to flag suspicious transactions for manual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212080"/>
            <a:ext cx="2743200" cy="822960"/>
          </a:xfrm>
          <a:prstGeom prst="rect">
            <a:avLst/>
          </a:prstGeom>
          <a:solidFill>
            <a:srgbClr val="FFEBEE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257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</a:rPr>
              <a:t>9 / 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742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Fraud Alerts Raised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5212080"/>
            <a:ext cx="256032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525780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</a:rPr>
              <a:t>21 :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74243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Class Imbalance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3 — Financial Markets: Stock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3F2FD"/>
                </a:solidFill>
              </a:rPr>
              <a:t>6 Indian Large-Cap Stocks  |  20+ Years Daily OHLCV  |  2005–2026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Stock Performance Summary (2005–2026)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9164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Stock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Sector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Total Gain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Ann. Return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Ann. Vol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Sharpe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ASIANPAINT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Consumer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645%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19.9%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33.0%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0.41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CIPLA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Pharma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323%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12.4%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31.2%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HDFCBANK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Banking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69%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12.2%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36.5%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0.16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ITC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Conglomerate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−76%*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−6.4%*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~30%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TCS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IT Services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95%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~10%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~28%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ULTRACEMCO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3,651%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~28%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~25%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Best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3749039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</a:rPr>
              <a:t>* ITC price reflects share restructuring; actual price ~₹314 vs ₹1,313 start due to demerger adjustments.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Feature Engineering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452628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Set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Set A — Technical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ret_5d, ret_10d, ret_21d, mom_63d, vol_10d, vol_21d, ma_ratio_20, ma_ratio_50, rel_volume, log_volume, hl_range + tickers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Set B — + 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Set A + gdp_growth (quarterly) + inflation (quarterly)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41605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565C0"/>
                </a:solidFill>
              </a:rPr>
              <a:t>Technical Notes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TimeSeriesSplit (5-fold) — critical to prevent future data leakage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Return column in raw data = intraday (open→close). Derived close-to-close returns using pct_change()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Macro data is quarterly → forward-filled to daily via period-merge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212121"/>
                </a:solidFill>
              </a:rPr>
              <a:t>  ▸  Inter-stock correlation: 0.11–0.27 (low) — good diversification potential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3 — Portfolio Optimisation &amp; Backtest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3F2FD"/>
                </a:solidFill>
              </a:rPr>
              <a:t>Markowitz Mean-Variance  |  Rolling Backtest 2024–2026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Markowitz Optimisation Results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91640"/>
          <a:ext cx="5760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Portfolio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Ret.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Vol.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Sharpe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Top Holdings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Min-Variance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16.34%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11.93%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0.82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ITC 26.9%, UltraTech 21.8%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Max-Sharpe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29.04%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15.26%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ITC 68.9%, UltraTech 31.1%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Equal-Weight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13.42%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14.12%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16.7% each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33832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Backtest Performance (Jan 2024 – Feb 2026)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3794760"/>
          <a:ext cx="57607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Ann. Return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Sharpe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Max Drawdown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ML Max-Sharpe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−22.83%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−1.63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−41.93%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Equal-Weight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−6.30%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−0.96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−25.00%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16636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Both strategies negative — Indian equity market declined 2024–2026. ML portfolio hurt by ITC concentration during ITC's downtrend.</a:t>
            </a:r>
          </a:p>
        </p:txBody>
      </p:sp>
      <p:pic>
        <p:nvPicPr>
          <p:cNvPr id="11" name="Picture 10" descr="backtes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669280" cy="5257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4 — Derivatives: Option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3F2FD"/>
                </a:solidFill>
              </a:rPr>
              <a:t>NIFTY 50  |  39,485 Contracts  |  2 Feb 2024  |  Black-Scholes vs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Model Comparison — RMSE (INR)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91640"/>
          <a:ext cx="5760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Black-Scholes (market IV)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29.57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19.05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0.9947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XGBoost Set A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14.16 ± 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8.26 ± 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0.9988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XGBoost Set 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15.15 ± 0.49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9.61 ± 0.22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0.9986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Gradient Boosting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18.01 ± 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11.49 ± 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0.9980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Random Forest 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26.89 ± 0.78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16.38 ± 0.33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0.9956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100.85 ± 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80.07 ± 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0.9383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4023360"/>
            <a:ext cx="265176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06908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</a:rPr>
              <a:t>−52%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5371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ML RMSE Improvement vs 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4023360"/>
            <a:ext cx="2651760" cy="91440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406908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47A1"/>
                </a:solidFill>
              </a:rPr>
              <a:t>₹14.16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455371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XGBoost Set A 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07492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212121"/>
                </a:solidFill>
              </a:rPr>
              <a:t>  ▸  XGBoost Set A beats Black-Scholes by 52% — ML captures smile and skew implicitly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12121"/>
                </a:solidFill>
              </a:rPr>
              <a:t>  ▸  Linear Regression fails completely (RMSE=₹100.85) — option pricing is inherently non-linear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12121"/>
                </a:solidFill>
              </a:rPr>
              <a:t>  ▸  Microstructure features (Set B) did not improve over structural features — too noisy at this scale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12121"/>
                </a:solidFill>
              </a:rPr>
              <a:t>  ▸  R² &gt; 0.999 for ML: near-perfect in-sample fit confirms structural features are highly predictive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212121"/>
                </a:solidFill>
              </a:rPr>
              <a:t>  ▸  Key SHAP drivers: Intrinsic value, Log-Moneyness, IV, TTE_years</a:t>
            </a:r>
          </a:p>
        </p:txBody>
      </p:sp>
      <p:pic>
        <p:nvPicPr>
          <p:cNvPr id="15" name="Picture 14" descr="iv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669280" cy="5257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4 — Risk Management: VaR &amp; Delta Hedge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3F2FD"/>
                </a:solidFill>
              </a:rPr>
              <a:t>Historical Simulation VaR  |  Portfolio Beta Hedge via NIFTY 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Value-at-Risk — ₹1 Crore NIFTY Position (5-min intraday)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91640"/>
          <a:ext cx="5760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% Return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₹ Loss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VaR 95%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−0.149%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₹14,921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VaR 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−0.342%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₹34,156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CVaR 95%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−0.291%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₹29,073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CVaR 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−0.605%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₹60,510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33375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Historical simulation used — no normality assumption. Based on 74 intraday 5-min returns.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84048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Delta-Neutral Hedge (Aurora Max-Sharpe Portfolio)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4251960"/>
          <a:ext cx="5760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Portfolio Value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₹1 Crore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Portfolio 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0.747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NIFTY Delta Exposure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₹7,466,043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Hedge: NIFTY Put @ 21850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8 Feb 2024 (6d)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Put Delta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−0.449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Contracts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15 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Total Hedge Cost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12121"/>
                          </a:solidFill>
                        </a:rPr>
                        <a:t>₹98,175  (0.98% AUM)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delta_h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669280" cy="5257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5 — Integrated 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3F2FD"/>
                </a:solidFill>
              </a:rPr>
              <a:t>Plotly Interactive HTML  |  One-click view across all 4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Dashboard Panels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18288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Corporate 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Top 10 projects by Risk-Adj EV (bar chart, FUND/SKIP colour-coded)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182880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Banking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Credit tier donut + fraud alert table (top 10 by score)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94760"/>
            <a:ext cx="182880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Financial Markets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Max-Sharpe allocation pie + backtest equity curve vs equal-weight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46320"/>
            <a:ext cx="182880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</a:rPr>
              <a:t>Derivatives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Option pricing RMSE bar + VaR gauge + delta hedge summary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852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Exports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199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12121"/>
                </a:solidFill>
              </a:rPr>
              <a:t>aurora_dashboard.html  (self-contained, CDN Plotly)   |   aurora_executive_summary.xlsx  (6 worksheets)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1188720"/>
            <a:ext cx="64008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12344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aurora_dashboard.html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1600200"/>
            <a:ext cx="6217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The interactive HTML dashboard opens in any browser — no Python or Jupyter required.
All four module outputs are unified into a single scrollable report with hover tooltips,
zoom, and drill-down on every chart.
The Excel summary (6 sheets) provides tabular data for offline review:
  • M1: Top 10 funded projects
  • M2: Risk tiers + fraud alerts
  • M3: Stock rankings + portfolio weights
  • M3: Backtest performance
  • M4: Pricing comparison + VaR + hedge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Cross-Module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3F2FD"/>
                </a:solidFill>
              </a:rPr>
              <a:t>How the 4 modules form a connected, firm-wide decision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Module Linkages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916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From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Used In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How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M1 Corp Finance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ranked_projects.csv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M5 Dashboard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Top-10 project bar chart; FUND/SKIP recommendations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M2 Banking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risk_scored_loans.csv + fraud_alerts.csv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M5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Risk tier donut chart + fraud alert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M3 Markets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portfolio_weights.csv (max_sharpe_weight)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M4 Derivatives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Portfolio beta → sizes the delta hedge contract count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M3 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backtest_returns.csv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M5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Equity curve panel — ML vs equal-weight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M4 Derivatives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var_results.csv + delta_hedge_table.csv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M5 Dashboard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VaR gauge + hedge summary table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All 4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All CSVs + PNGs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M5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12121"/>
                          </a:solidFill>
                        </a:rPr>
                        <a:t>Unified interactive HTML + Excel executive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43891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Critical M3 → M4 linkage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Aurora's Max-Sharpe portfolio concentrates 68.9% in ITC and 31.1% in UltraTech. This specific allocation determines the portfolio beta (0.747), which in turn sets the NIFTY delta exposure at ₹7.47M. That figure drives the decision to buy exactly 15 NIFTY put contracts at strike 21,850 — a direct quantitative chain from equity ML to derivatives risk management.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Performance — All Modules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3F2FD"/>
                </a:solidFill>
              </a:rPr>
              <a:t>Best model per task, key metric, and business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25880"/>
          <a:ext cx="116128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Best Model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Key Metric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Business Impact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M1 Corp Finance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Success classification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XGBoost (Set B)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AUC = 0.556 (5-fold CV)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16 projects FUND; top EV ₹3.26M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M1 Corp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Cashflow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Ridge (Set 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RMSE = ₹1.34M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NPV computed for all 50 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M2 Banking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PD regression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Random Forest (Set B)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RMSE = 0.091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63 Medium / 19 High risk flagged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M2 Banking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Fraud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XGBoost (weighted)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PR-AUC = 0.162 (best)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9 fraud alerts raised for investigation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M3 Markets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Return prediction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Ridge (Set 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IC = 0.018 | Dir.Acc = 50.7%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ITC &amp; UltraTech ranked top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M3 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Portfolio optimisation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Markowitz Max-Sharpe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Sharpe = 1.48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ITC 68.9% + UltraTech 31.1%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M4 Derivatives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Option pricing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XGBoost Set 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RMSE = ₹14.16 (−52% vs BS)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ML pricing surface replaces BS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M4 Derivatives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Historical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VaR99% = ₹34,156 / ₹1cr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Risk quantified per 5-min interval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M4 Derivatives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Delta hedge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BS Delta + Markowitz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Cost = 0.98% AUM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</a:rPr>
                        <a:t>15 NIFTY puts neutralise market risk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3F2FD"/>
                </a:solidFill>
              </a:rPr>
              <a:t>Actionable decisions from the ML-driven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349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66928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M1 — Corporate Finance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83080"/>
            <a:ext cx="5669280" cy="667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81051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→  Fund 16 of 50 projects with NPV &gt; 0 and P(Success) &gt; 50%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68880"/>
            <a:ext cx="566928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49631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→  Prioritise IT-department projects with NPV &gt; ₹2M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54680"/>
            <a:ext cx="5669280" cy="667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18211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→  Reject all High-risk projects with P(Success) &lt; 40%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66928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M2 — Banking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783080"/>
            <a:ext cx="5669280" cy="667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1051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→  Escalate 19 High-risk loans to credit review committee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68880"/>
            <a:ext cx="566928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49631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→  Flag 9 fraud alerts to compliance team for immediate investigation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5669280" cy="667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18211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→  Require collateral enhancement for all Medium-risk loans &gt; ₹500K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77639"/>
            <a:ext cx="566928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0233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M3 — Financial Markets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34840"/>
            <a:ext cx="5669280" cy="667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4622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→  Deploy Min-Variance portfolio as base allocation (Sharpe=0.82, lower drawdown)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120640"/>
            <a:ext cx="566928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51480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→  Use Max-Sharpe as tactical overlay when ITC and UltraTech show positive momentum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806440"/>
            <a:ext cx="5669280" cy="667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58338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→  Rebalance monthly using fresh ML predictions to avoid stale concentration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977639"/>
            <a:ext cx="566928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40233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M4 — Derivatives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434840"/>
            <a:ext cx="5669280" cy="667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4622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→  Buy 15 NIFTY put lots @ 21,850 to hedge portfolio delta (0.98% AUM cost)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120640"/>
            <a:ext cx="566928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1480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→  Monitor VaR 99% weekly — set internal limit at ₹50,000 per ₹1cr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806440"/>
            <a:ext cx="5669280" cy="667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83387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→  Roll hedge monthly before expiry; re-size when portfolio weights change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3383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3F2FD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Aurora Finance ML-Driven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4 ML modules | 5+ algorithms per task | Feature engineering experiments |
SHAP explainability | Financial theory integration | Unified executive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10360152" cy="36576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7F17"/>
                </a:solidFill>
              </a:rPr>
              <a:t>From 50 projects evaluated to 16 funding decisions  |  From 100 loans to 3 risk tiers  |  From 39,485 option contracts to a delta-neutral hedge  |  From 6 stocks to a Markowitz-optimal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F2FD"/>
                </a:solidFill>
              </a:rPr>
              <a:t>Limitations &amp; 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3F2FD"/>
                </a:solidFill>
              </a:rPr>
              <a:t>▸ Small datasets (50–200 rows in M1/M2) — validate on larger production data before deployment
▸ M3 IC ≈ 0.018 — real quant strategies target IC &gt; 0.05; more features and longer history needed
▸ M4 single-day option chain — multi-day data would enable richer IV surface modelling
▸ Regime-aware portfolio constraints would prevent over-concentration during market downturns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Aurora Finance | ML-Driven Decision Support | IIT Bombay ePGDip@ML | Semester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